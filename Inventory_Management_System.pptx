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0574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4200" b="1" dirty="0" smtClean="0">
                <a:solidFill>
                  <a:srgbClr val="003366"/>
                </a:solidFill>
              </a:rPr>
              <a:t>Inventory Management System</a:t>
            </a:r>
            <a:endParaRPr lang="en-US" sz="4200" dirty="0"/>
          </a:p>
        </p:txBody>
      </p:sp>
      <p:sp>
        <p:nvSpPr>
          <p:cNvPr id="3" name="Object 3"/>
          <p:cNvSpPr txBox="1"/>
          <p:nvPr/>
        </p:nvSpPr>
        <p:spPr>
          <a:xfrm>
            <a:off x="0" y="30175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000" dirty="0" smtClean="0">
                <a:solidFill>
                  <a:srgbClr val="004080"/>
                </a:solidFill>
              </a:rPr>
              <a:t>Real-Time Warehouse &amp; Stock Reservation Platform</a:t>
            </a:r>
            <a:endParaRPr lang="en-US"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0" y="3840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555555"/>
                </a:solidFill>
              </a:rPr>
              <a:t>Hackathon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11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800" b="1" dirty="0" smtClean="0">
                <a:solidFill>
                  <a:srgbClr val="003366"/>
                </a:solidFill>
              </a:rPr>
              <a:t>01  Problem Statement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6012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4" name="Object 4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600" i="1" dirty="0" smtClean="0">
                <a:solidFill>
                  <a:srgbClr val="1A1A1A"/>
                </a:solidFill>
              </a:rPr>
              <a:t>How do enterprises manage inventory across multiple warehouses while preventing double allocation?</a:t>
            </a:r>
            <a:endParaRPr lang="en-US" sz="1600" dirty="0"/>
          </a:p>
        </p:txBody>
      </p:sp>
      <p:sp>
        <p:nvSpPr>
          <p:cNvPr id="5" name="Object 5"/>
          <p:cNvSpPr txBox="1"/>
          <p:nvPr/>
        </p:nvSpPr>
        <p:spPr>
          <a:xfrm>
            <a:off x="640080" y="17830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No centralized inventory visibility across warehouses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21259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Double allocation — same stock assigned to multiple orders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25374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No reservation mechanism — stock released immediately on order creation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28803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Manual reconciliation when orders are cancelled or changed</a:t>
            </a:r>
            <a:endParaRPr lang="en-US" sz="1400" dirty="0"/>
          </a:p>
        </p:txBody>
      </p:sp>
      <p:sp>
        <p:nvSpPr>
          <p:cNvPr id="9" name="Object 9"/>
          <p:cNvSpPr txBox="1"/>
          <p:nvPr/>
        </p:nvSpPr>
        <p:spPr>
          <a:xfrm>
            <a:off x="640080" y="32918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No role-based access for warehouse operators vs managers</a:t>
            </a:r>
            <a:endParaRPr lang="en-US" sz="140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No audit trail for inventory movements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11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800" b="1" dirty="0" smtClean="0">
                <a:solidFill>
                  <a:srgbClr val="003366"/>
                </a:solidFill>
              </a:rPr>
              <a:t>02  Existing vs Proposed Solution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6012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4" name="Object 4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800" b="1" dirty="0" smtClean="0">
                <a:solidFill>
                  <a:srgbClr val="D83B01"/>
                </a:solidFill>
              </a:rPr>
              <a:t>Existing System</a:t>
            </a:r>
            <a:endParaRPr lang="en-US"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548640" y="16459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666666"/>
                </a:solidFill>
              </a:rPr>
              <a:t>  Direct stock deduction on order</a:t>
            </a:r>
            <a:endParaRPr lang="en-US" sz="1300" dirty="0"/>
          </a:p>
        </p:txBody>
      </p:sp>
      <p:sp>
        <p:nvSpPr>
          <p:cNvPr id="6" name="Object 6"/>
          <p:cNvSpPr txBox="1"/>
          <p:nvPr/>
        </p:nvSpPr>
        <p:spPr>
          <a:xfrm>
            <a:off x="548640" y="19888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666666"/>
                </a:solidFill>
              </a:rPr>
              <a:t>  No reservation mechanism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548640" y="23317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666666"/>
                </a:solidFill>
              </a:rPr>
              <a:t>  No warehouse isolation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54864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666666"/>
                </a:solidFill>
              </a:rPr>
              <a:t>  Single admin, no roles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548640" y="30175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666666"/>
                </a:solidFill>
              </a:rPr>
              <a:t>  Manual stock reconciliation</a:t>
            </a:r>
            <a:endParaRPr lang="en-US" sz="1300" dirty="0"/>
          </a:p>
        </p:txBody>
      </p:sp>
      <p:sp>
        <p:nvSpPr>
          <p:cNvPr id="10" name="Object 10"/>
          <p:cNvSpPr txBox="1"/>
          <p:nvPr/>
        </p:nvSpPr>
        <p:spPr>
          <a:xfrm>
            <a:off x="475488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800" b="1" dirty="0" smtClean="0">
                <a:solidFill>
                  <a:srgbClr val="107C10"/>
                </a:solidFill>
              </a:rPr>
              <a:t>Proposed System</a:t>
            </a:r>
            <a:endParaRPr lang="en-US" sz="1800" dirty="0"/>
          </a:p>
        </p:txBody>
      </p:sp>
      <p:sp>
        <p:nvSpPr>
          <p:cNvPr id="11" name="Object 11"/>
          <p:cNvSpPr txBox="1"/>
          <p:nvPr/>
        </p:nvSpPr>
        <p:spPr>
          <a:xfrm>
            <a:off x="4846320" y="16459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1A1A1A"/>
                </a:solidFill>
              </a:rPr>
              <a:t>  Reserve stock — no immediate deduction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4846320" y="19888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1A1A1A"/>
                </a:solidFill>
              </a:rPr>
              <a:t>  Prevents double allocation</a:t>
            </a:r>
            <a:endParaRPr lang="en-US" sz="1300" dirty="0"/>
          </a:p>
        </p:txBody>
      </p:sp>
      <p:sp>
        <p:nvSpPr>
          <p:cNvPr id="13" name="Object 13"/>
          <p:cNvSpPr txBox="1"/>
          <p:nvPr/>
        </p:nvSpPr>
        <p:spPr>
          <a:xfrm>
            <a:off x="4846320" y="23317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1A1A1A"/>
                </a:solidFill>
              </a:rPr>
              <a:t>  Role-based warehouse isolation</a:t>
            </a:r>
            <a:endParaRPr lang="en-US" sz="1300" dirty="0"/>
          </a:p>
        </p:txBody>
      </p:sp>
      <p:sp>
        <p:nvSpPr>
          <p:cNvPr id="14" name="Object 14"/>
          <p:cNvSpPr txBox="1"/>
          <p:nvPr/>
        </p:nvSpPr>
        <p:spPr>
          <a:xfrm>
            <a:off x="484632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1A1A1A"/>
                </a:solidFill>
              </a:rPr>
              <a:t>  4 roles with granular access</a:t>
            </a:r>
            <a:endParaRPr lang="en-US" sz="1300" dirty="0"/>
          </a:p>
        </p:txBody>
      </p:sp>
      <p:sp>
        <p:nvSpPr>
          <p:cNvPr id="15" name="Object 15"/>
          <p:cNvSpPr txBox="1"/>
          <p:nvPr/>
        </p:nvSpPr>
        <p:spPr>
          <a:xfrm>
            <a:off x="4846320" y="30175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1A1A1A"/>
                </a:solidFill>
              </a:rPr>
              <a:t>  Full audit trail via transactions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11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800" b="1" dirty="0" smtClean="0">
                <a:solidFill>
                  <a:srgbClr val="003366"/>
                </a:solidFill>
              </a:rPr>
              <a:t>03  System Architecture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6012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4" name="Object 4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dirty="0" smtClean="0">
                <a:solidFill>
                  <a:srgbClr val="004080"/>
                </a:solidFill>
              </a:rPr>
              <a:t>Microservices + Event-Driven Architecture</a:t>
            </a:r>
            <a:endParaRPr lang="en-US" sz="1500" dirty="0"/>
          </a:p>
        </p:txBody>
      </p:sp>
      <p:sp>
        <p:nvSpPr>
          <p:cNvPr id="5" name="Object 5"/>
          <p:cNvSpPr txBox="1"/>
          <p:nvPr/>
        </p:nvSpPr>
        <p:spPr>
          <a:xfrm>
            <a:off x="2743200" y="157734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6" name="Object 6"/>
          <p:cNvSpPr txBox="1"/>
          <p:nvPr/>
        </p:nvSpPr>
        <p:spPr>
          <a:xfrm>
            <a:off x="2743200" y="16459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API Gateway (Spring Cloud Gateway)</a:t>
            </a:r>
            <a:endParaRPr lang="en-US" sz="1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8" name="Object 8"/>
          <p:cNvSpPr txBox="1"/>
          <p:nvPr/>
        </p:nvSpPr>
        <p:spPr>
          <a:xfrm>
            <a:off x="457200" y="22631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Auth Service</a:t>
            </a:r>
            <a:endParaRPr lang="en-US" sz="1100" dirty="0"/>
          </a:p>
        </p:txBody>
      </p:sp>
      <p:sp>
        <p:nvSpPr>
          <p:cNvPr id="9" name="Object 9"/>
          <p:cNvSpPr txBox="1"/>
          <p:nvPr/>
        </p:nvSpPr>
        <p:spPr>
          <a:xfrm>
            <a:off x="3383280" y="219456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10" name="Object 10"/>
          <p:cNvSpPr txBox="1"/>
          <p:nvPr/>
        </p:nvSpPr>
        <p:spPr>
          <a:xfrm>
            <a:off x="3383280" y="22631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Product Service</a:t>
            </a:r>
            <a:endParaRPr lang="en-US" sz="1100" dirty="0"/>
          </a:p>
        </p:txBody>
      </p:sp>
      <p:sp>
        <p:nvSpPr>
          <p:cNvPr id="11" name="Object 11"/>
          <p:cNvSpPr txBox="1"/>
          <p:nvPr/>
        </p:nvSpPr>
        <p:spPr>
          <a:xfrm>
            <a:off x="6309360" y="219456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12" name="Object 12"/>
          <p:cNvSpPr txBox="1"/>
          <p:nvPr/>
        </p:nvSpPr>
        <p:spPr>
          <a:xfrm>
            <a:off x="6309360" y="22631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Warehouse Service</a:t>
            </a:r>
            <a:endParaRPr lang="en-US" sz="1100" dirty="0"/>
          </a:p>
        </p:txBody>
      </p:sp>
      <p:sp>
        <p:nvSpPr>
          <p:cNvPr id="13" name="Object 13"/>
          <p:cNvSpPr txBox="1"/>
          <p:nvPr/>
        </p:nvSpPr>
        <p:spPr>
          <a:xfrm>
            <a:off x="457200" y="274320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14" name="Object 14"/>
          <p:cNvSpPr txBox="1"/>
          <p:nvPr/>
        </p:nvSpPr>
        <p:spPr>
          <a:xfrm>
            <a:off x="457200" y="28117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Inventory Service</a:t>
            </a:r>
            <a:endParaRPr lang="en-US" sz="1100" dirty="0"/>
          </a:p>
        </p:txBody>
      </p:sp>
      <p:sp>
        <p:nvSpPr>
          <p:cNvPr id="15" name="Object 15"/>
          <p:cNvSpPr txBox="1"/>
          <p:nvPr/>
        </p:nvSpPr>
        <p:spPr>
          <a:xfrm>
            <a:off x="3383280" y="274320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16" name="Object 16"/>
          <p:cNvSpPr txBox="1"/>
          <p:nvPr/>
        </p:nvSpPr>
        <p:spPr>
          <a:xfrm>
            <a:off x="3383280" y="28117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Replenishment</a:t>
            </a:r>
            <a:endParaRPr lang="en-US" sz="1100" dirty="0"/>
          </a:p>
        </p:txBody>
      </p:sp>
      <p:sp>
        <p:nvSpPr>
          <p:cNvPr id="17" name="Object 17"/>
          <p:cNvSpPr txBox="1"/>
          <p:nvPr/>
        </p:nvSpPr>
        <p:spPr>
          <a:xfrm>
            <a:off x="6309360" y="2743200"/>
            <a:ext cx="2819400" cy="369332"/>
          </a:xfrm>
          <a:prstGeom prst="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</p:sp>
      <p:sp>
        <p:nvSpPr>
          <p:cNvPr id="18" name="Object 18"/>
          <p:cNvSpPr txBox="1"/>
          <p:nvPr/>
        </p:nvSpPr>
        <p:spPr>
          <a:xfrm>
            <a:off x="6309360" y="28117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 smtClean="0">
                <a:solidFill>
                  <a:srgbClr val="003366"/>
                </a:solidFill>
              </a:rPr>
              <a:t>Reporting</a:t>
            </a:r>
            <a:endParaRPr lang="en-US" sz="1100" dirty="0"/>
          </a:p>
        </p:txBody>
      </p:sp>
      <p:sp>
        <p:nvSpPr>
          <p:cNvPr id="19" name="Object 19"/>
          <p:cNvSpPr txBox="1"/>
          <p:nvPr/>
        </p:nvSpPr>
        <p:spPr>
          <a:xfrm>
            <a:off x="457200" y="3429000"/>
            <a:ext cx="2819400" cy="369332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</p:sp>
      <p:sp>
        <p:nvSpPr>
          <p:cNvPr id="20" name="Object 20"/>
          <p:cNvSpPr txBox="1"/>
          <p:nvPr/>
        </p:nvSpPr>
        <p:spPr>
          <a:xfrm>
            <a:off x="457200" y="34975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 smtClean="0">
                <a:solidFill>
                  <a:srgbClr val="555555"/>
                </a:solidFill>
              </a:rPr>
              <a:t>MySQL 8  |  JPA</a:t>
            </a:r>
            <a:endParaRPr lang="en-US" sz="1000" dirty="0"/>
          </a:p>
        </p:txBody>
      </p:sp>
      <p:sp>
        <p:nvSpPr>
          <p:cNvPr id="21" name="Object 21"/>
          <p:cNvSpPr txBox="1"/>
          <p:nvPr/>
        </p:nvSpPr>
        <p:spPr>
          <a:xfrm>
            <a:off x="3383280" y="3429000"/>
            <a:ext cx="2819400" cy="369332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</p:sp>
      <p:sp>
        <p:nvSpPr>
          <p:cNvPr id="22" name="Object 22"/>
          <p:cNvSpPr txBox="1"/>
          <p:nvPr/>
        </p:nvSpPr>
        <p:spPr>
          <a:xfrm>
            <a:off x="3383280" y="34975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 smtClean="0">
                <a:solidFill>
                  <a:srgbClr val="555555"/>
                </a:solidFill>
              </a:rPr>
              <a:t>Kafka  |  Eureka</a:t>
            </a:r>
            <a:endParaRPr lang="en-US" sz="1000" dirty="0"/>
          </a:p>
        </p:txBody>
      </p:sp>
      <p:sp>
        <p:nvSpPr>
          <p:cNvPr id="23" name="Object 23"/>
          <p:cNvSpPr txBox="1"/>
          <p:nvPr/>
        </p:nvSpPr>
        <p:spPr>
          <a:xfrm>
            <a:off x="6309360" y="3429000"/>
            <a:ext cx="2819400" cy="369332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</p:sp>
      <p:sp>
        <p:nvSpPr>
          <p:cNvPr id="24" name="Object 24"/>
          <p:cNvSpPr txBox="1"/>
          <p:nvPr/>
        </p:nvSpPr>
        <p:spPr>
          <a:xfrm>
            <a:off x="6309360" y="34975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 smtClean="0">
                <a:solidFill>
                  <a:srgbClr val="555555"/>
                </a:solidFill>
              </a:rPr>
              <a:t>React + MUI</a:t>
            </a:r>
            <a:endParaRPr lang="en-US" sz="1000" dirty="0"/>
          </a:p>
        </p:txBody>
      </p:sp>
      <p:sp>
        <p:nvSpPr>
          <p:cNvPr id="25" name="Object 25"/>
          <p:cNvSpPr txBox="1"/>
          <p:nvPr/>
        </p:nvSpPr>
        <p:spPr>
          <a:xfrm>
            <a:off x="3383280" y="3977640"/>
            <a:ext cx="2819400" cy="369332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</p:sp>
      <p:sp>
        <p:nvSpPr>
          <p:cNvPr id="26" name="Object 26"/>
          <p:cNvSpPr txBox="1"/>
          <p:nvPr/>
        </p:nvSpPr>
        <p:spPr>
          <a:xfrm>
            <a:off x="3383280" y="40462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 smtClean="0">
                <a:solidFill>
                  <a:srgbClr val="555555"/>
                </a:solidFill>
              </a:rPr>
              <a:t>Notification Service</a:t>
            </a:r>
            <a:endParaRPr lang="en-US" sz="1000" dirty="0"/>
          </a:p>
        </p:txBody>
      </p:sp>
      <p:sp>
        <p:nvSpPr>
          <p:cNvPr id="27" name="Object 27"/>
          <p:cNvSpPr txBox="1"/>
          <p:nvPr/>
        </p:nvSpPr>
        <p:spPr>
          <a:xfrm>
            <a:off x="457200" y="45262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i="1" dirty="0" smtClean="0">
                <a:solidFill>
                  <a:srgbClr val="555555"/>
                </a:solidFill>
              </a:rPr>
              <a:t>All requests route through Gateway → JWT Auth → Service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11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800" b="1" dirty="0" smtClean="0">
                <a:solidFill>
                  <a:srgbClr val="003366"/>
                </a:solidFill>
              </a:rPr>
              <a:t>04  Technology Stack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6012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4" name="Object 4"/>
          <p:cNvSpPr txBox="1"/>
          <p:nvPr/>
        </p:nvSpPr>
        <p:spPr>
          <a:xfrm>
            <a:off x="457200" y="137160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5" name="Object 5"/>
          <p:cNvSpPr txBox="1"/>
          <p:nvPr/>
        </p:nvSpPr>
        <p:spPr>
          <a:xfrm>
            <a:off x="457200" y="13716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6" name="Object 6"/>
          <p:cNvSpPr txBox="1"/>
          <p:nvPr/>
        </p:nvSpPr>
        <p:spPr>
          <a:xfrm>
            <a:off x="2468880" y="13716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Java 17  ·  Spring Boot 3.2  ·  Spring Cloud 2023.0  ·  Spring Security</a:t>
            </a:r>
            <a:endParaRPr lang="en-US" sz="1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85166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8" name="Object 8"/>
          <p:cNvSpPr txBox="1"/>
          <p:nvPr/>
        </p:nvSpPr>
        <p:spPr>
          <a:xfrm>
            <a:off x="457200" y="19202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2468880" y="19202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React 18  ·  Vite 5  ·  MaterialUI 5  ·  Formik + Yup  ·  Recharts</a:t>
            </a:r>
            <a:endParaRPr lang="en-US" sz="1200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240030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11" name="Object 11"/>
          <p:cNvSpPr txBox="1"/>
          <p:nvPr/>
        </p:nvSpPr>
        <p:spPr>
          <a:xfrm>
            <a:off x="457200" y="24003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2468880" y="24003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MySQL 8.0  ·  H2 (test)  ·  JPA / Hibernate</a:t>
            </a:r>
            <a:endParaRPr lang="en-US" sz="1200" dirty="0"/>
          </a:p>
        </p:txBody>
      </p:sp>
      <p:sp>
        <p:nvSpPr>
          <p:cNvPr id="13" name="Object 13"/>
          <p:cNvSpPr txBox="1"/>
          <p:nvPr/>
        </p:nvSpPr>
        <p:spPr>
          <a:xfrm>
            <a:off x="457200" y="288036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14" name="Object 14"/>
          <p:cNvSpPr txBox="1"/>
          <p:nvPr/>
        </p:nvSpPr>
        <p:spPr>
          <a:xfrm>
            <a:off x="457200" y="29489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Messaging</a:t>
            </a:r>
            <a:endParaRPr lang="en-US" sz="1300" dirty="0"/>
          </a:p>
        </p:txBody>
      </p:sp>
      <p:sp>
        <p:nvSpPr>
          <p:cNvPr id="15" name="Object 15"/>
          <p:cNvSpPr txBox="1"/>
          <p:nvPr/>
        </p:nvSpPr>
        <p:spPr>
          <a:xfrm>
            <a:off x="2468880" y="29489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Apache Kafka  ·  Confluent 7.5  ·  Spring Kafka</a:t>
            </a:r>
            <a:endParaRPr lang="en-US" sz="1200" dirty="0"/>
          </a:p>
        </p:txBody>
      </p:sp>
      <p:sp>
        <p:nvSpPr>
          <p:cNvPr id="16" name="Object 16"/>
          <p:cNvSpPr txBox="1"/>
          <p:nvPr/>
        </p:nvSpPr>
        <p:spPr>
          <a:xfrm>
            <a:off x="457200" y="342900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17" name="Object 17"/>
          <p:cNvSpPr txBox="1"/>
          <p:nvPr/>
        </p:nvSpPr>
        <p:spPr>
          <a:xfrm>
            <a:off x="457200" y="34290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Infra</a:t>
            </a:r>
            <a:endParaRPr lang="en-US" sz="1300" dirty="0"/>
          </a:p>
        </p:txBody>
      </p:sp>
      <p:sp>
        <p:nvSpPr>
          <p:cNvPr id="18" name="Object 18"/>
          <p:cNvSpPr txBox="1"/>
          <p:nvPr/>
        </p:nvSpPr>
        <p:spPr>
          <a:xfrm>
            <a:off x="2468880" y="34290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Docker  ·  Maven  ·  Eureka  ·  JWT (jjwt 0.12)  ·  BCrypt</a:t>
            </a:r>
            <a:endParaRPr lang="en-US" sz="1200" dirty="0"/>
          </a:p>
        </p:txBody>
      </p:sp>
      <p:sp>
        <p:nvSpPr>
          <p:cNvPr id="19" name="Object 19"/>
          <p:cNvSpPr txBox="1"/>
          <p:nvPr/>
        </p:nvSpPr>
        <p:spPr>
          <a:xfrm>
            <a:off x="457200" y="390906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20" name="Object 20"/>
          <p:cNvSpPr txBox="1"/>
          <p:nvPr/>
        </p:nvSpPr>
        <p:spPr>
          <a:xfrm>
            <a:off x="457200" y="39776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</a:rPr>
              <a:t>Testing</a:t>
            </a:r>
            <a:endParaRPr lang="en-US" sz="1300" dirty="0"/>
          </a:p>
        </p:txBody>
      </p:sp>
      <p:sp>
        <p:nvSpPr>
          <p:cNvPr id="21" name="Object 21"/>
          <p:cNvSpPr txBox="1"/>
          <p:nvPr/>
        </p:nvSpPr>
        <p:spPr>
          <a:xfrm>
            <a:off x="2468880" y="39776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200" dirty="0" smtClean="0">
                <a:solidFill>
                  <a:srgbClr val="1A1A1A"/>
                </a:solidFill>
              </a:rPr>
              <a:t>JUnit 5  ·  Mockito  ·  Spring Boot Test  ·  H2 in-memory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11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800" b="1" dirty="0" smtClean="0">
                <a:solidFill>
                  <a:srgbClr val="003366"/>
                </a:solidFill>
              </a:rPr>
              <a:t>05  Key Features &amp; Conclusion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6012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4" name="Object 4"/>
          <p:cNvSpPr txBox="1"/>
          <p:nvPr/>
        </p:nvSpPr>
        <p:spPr>
          <a:xfrm>
            <a:off x="640080" y="13716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Reservation system — prevents double allocation enterprise-wide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64008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Multi-warehouse isolation with Role-Based Access Control (4 roles)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21259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Complete stock movement audit trail via transaction logging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24688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Event-driven architecture with Kafka for real-time notifications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28803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Scalable microservices with Eureka service discovery</a:t>
            </a:r>
            <a:endParaRPr lang="en-US" sz="1400" dirty="0"/>
          </a:p>
        </p:txBody>
      </p:sp>
      <p:sp>
        <p:nvSpPr>
          <p:cNvPr id="9" name="Object 9"/>
          <p:cNvSpPr txBox="1"/>
          <p:nvPr/>
        </p:nvSpPr>
        <p:spPr>
          <a:xfrm>
            <a:off x="640080" y="32232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1A1A1A"/>
                </a:solidFill>
              </a:rPr>
              <a:t>  Modern MaterialUI dashboard with real-time stock charts</a:t>
            </a:r>
            <a:endParaRPr lang="en-US" sz="1400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397764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11" name="Object 11"/>
          <p:cNvSpPr txBox="1"/>
          <p:nvPr/>
        </p:nvSpPr>
        <p:spPr>
          <a:xfrm>
            <a:off x="457200" y="41833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i="1" dirty="0" smtClean="0">
                <a:solidFill>
                  <a:srgbClr val="004080"/>
                </a:solidFill>
              </a:rPr>
              <a:t>Built for real-world warehouse operations — test-covered, containerized, production-ready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0574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4400" b="1" dirty="0" smtClean="0">
                <a:solidFill>
                  <a:srgbClr val="003366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0" y="30175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dirty="0" smtClean="0">
                <a:solidFill>
                  <a:srgbClr val="004080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3840480" y="3566160"/>
            <a:ext cx="2819400" cy="36933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</p:sp>
      <p:sp>
        <p:nvSpPr>
          <p:cNvPr id="5" name="Object 5"/>
          <p:cNvSpPr txBox="1"/>
          <p:nvPr/>
        </p:nvSpPr>
        <p:spPr>
          <a:xfrm>
            <a:off x="0" y="38404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 smtClean="0">
                <a:solidFill>
                  <a:srgbClr val="555555"/>
                </a:solidFill>
              </a:rPr>
              <a:t>Inventory Management System  |  Hackathon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2026-07-04T14:26:16Z</dcterms:created>
  <dcterms:modified xsi:type="dcterms:W3CDTF">2026-07-04T14:26:16Z</dcterms:modified>
</cp:coreProperties>
</file>